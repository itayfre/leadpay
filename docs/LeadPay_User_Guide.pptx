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1D4ED8">
              <a:alpha val="60000"/>
            </a:srgbClr>
          </a:solidFill>
          <a:ln w="12700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2743200" cy="2743200"/>
          </a:xfrm>
          <a:prstGeom prst="ellipse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4572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💰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LeadPay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 ניהול תשלומי דיירים לבניינים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מדריך מהיר למשתמשים |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LeadPay?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3977640" cy="16002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4447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בניינים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נהל מספר בניינים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ממסך אחד מרכזי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280160"/>
            <a:ext cx="3977640" cy="16002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0" y="14447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העלאת דפי חשבון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טען קובץ Excel מהבנק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והמערכת תתאים אוטומטית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063240"/>
            <a:ext cx="3977640" cy="1600200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32278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תשלומים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ראה מי שילם, כמה,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ואיזה חוב נותר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3063240"/>
            <a:ext cx="3977640" cy="1600200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32278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תזכורות WhatsApp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שלח הודעות תזכורת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לדיירים לא משלמים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תפקידים במערכת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65960" cy="3566160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96596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👑 מנהל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מלא של כל הנתונים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הזמנת משתמשים חדשים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אישור דיירים ממתינים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3886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מחיקת בניינים ורשומות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2304" y="1188720"/>
            <a:ext cx="1965960" cy="35661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1188720"/>
            <a:ext cx="196596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1234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🔧 עובד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42032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צפייה ועריכה של כל הנתונים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42032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העלאת דפי חשבון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2032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שליחת תזכורות WhatsApp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42032" y="3886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הוספה ועריכת דיירים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0288" y="1188720"/>
            <a:ext cx="1965960" cy="35661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90288" y="1188720"/>
            <a:ext cx="196596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1234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👁️ צופה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0016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קריאה בלבד של כל הנתונים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0016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צפייה בסטטוס תשלומים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0016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גישה לעריכה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0016" y="3886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גישה לניהול משתמשים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48272" y="1188720"/>
            <a:ext cx="1965960" cy="356616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48272" y="1188720"/>
            <a:ext cx="196596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1234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🏠 דייר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קריאה בלבד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גישה לבניין שלו בלבד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הרשמה עצמית דרך /register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3886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דורש אישור מנהל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כניסה למערכת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474720" cy="3566160"/>
          </a:xfrm>
          <a:prstGeom prst="rect">
            <a:avLst/>
          </a:prstGeom>
          <a:solidFill>
            <a:srgbClr val="F8FA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41732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LeadPay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מערכת ניהול תשלומי דיירים לבניינים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816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כתובת אימייל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358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your@email.com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56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סיסמה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758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••••••••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310896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33088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כניסה למערכת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1234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שני מסלולי כניסה: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06240" y="1691640"/>
            <a:ext cx="4572000" cy="13716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434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37760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הזמנה על ידי מנהל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0848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המנהל שולח קישור הזמנה → תגדיר סיסמה → כניסה אוטומטית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(לתפקידי מנהל / עובד / צופה)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3200400"/>
            <a:ext cx="4572000" cy="150876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4340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3776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הרשמה עצמית — דיירים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62102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כניסה ל-/register → מלא פרטים → המתן לאישור מנהל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לאחר אישור תוכל להיכנס למערכת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💡 אם נשארת מחובר — הגישה נשמרת ל-30 יום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ניהול בניינים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889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889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משעול תפן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📍 כרמיאל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2148840"/>
            <a:ext cx="1170432" cy="6858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1762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שולמו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4505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783080" y="2148840"/>
            <a:ext cx="1170432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21762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לא שולמו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24505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15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" y="2944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אחוז גבייה: 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474720"/>
            <a:ext cx="25603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930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צפה בסטטוס תשלומים 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1188720"/>
            <a:ext cx="27889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188720"/>
            <a:ext cx="27889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03320" y="1280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רחוב הגפן 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📍 תל אביב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10128" y="2148840"/>
            <a:ext cx="1170432" cy="6858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21762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שולמו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0128" y="24505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709160" y="2148840"/>
            <a:ext cx="1170432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1762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לא שולמו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24505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10128" y="2944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אחוז גבייה: 62%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3474720"/>
            <a:ext cx="25603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4930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צפה בסטטוס תשלומים 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1188720"/>
            <a:ext cx="27889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1188720"/>
            <a:ext cx="27889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29400" y="1280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שדרות רוטשילד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36208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📍 חיפה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36208" y="2148840"/>
            <a:ext cx="1170432" cy="6858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21762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שולמו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36208" y="24505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10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635240" y="2148840"/>
            <a:ext cx="1170432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21762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לא שולמו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35240" y="24505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2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236208" y="2944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אחוז גבייה: 83%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36208" y="3474720"/>
            <a:ext cx="25603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34930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צפה בסטטוס תשלומים ←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0040" y="41605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כיצד להוסיף בניין: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0040" y="448056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3232" y="4462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לחץ על ＋ הוסף בניין בראש הדף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496312" y="448056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6312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889504" y="4462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מלא שם, כתובת ועיר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72584" y="448056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72584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65776" y="4462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 תשלום חודשי צפוי לכל דירה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848856" y="448056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48856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42048" y="4462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לחץ שמור ✓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ניהול דיירים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115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דירה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0" y="11155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שם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14600" y="11155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טלפון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111556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סוג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11556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תשלום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11556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סטטוס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4920" y="15361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15361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אורה 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14600" y="15361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+972523...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37360" y="15361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משכיר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15361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₪135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1572768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901952"/>
            <a:ext cx="53035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9568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19568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מעיין ז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14600" y="19568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+972547...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19568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משכיר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19568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₪190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1993392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3774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49040" y="23774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מוטי 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14600" y="23774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+972524...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37360" y="23774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משכיר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" y="23774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₪190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2414016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0"/>
            <a:ext cx="53035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7980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49040" y="2798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גיא מ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14600" y="27980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+972523...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37360" y="27980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משכיר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" y="27980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₪190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4048" y="2834640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2186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49040" y="32186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אלונה 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32186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+972543...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737360" y="32186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משכיר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0120" y="32186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₪190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4048" y="3255264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פעולות זמינות: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852160" y="1600200"/>
            <a:ext cx="301752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96188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510528" y="164592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ייבוא מ-Excel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העלה קובץ עם עמודות: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מלא, מספר דירה, טלפון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52160" y="2770632"/>
            <a:ext cx="3017520" cy="1005840"/>
          </a:xfrm>
          <a:prstGeom prst="rect">
            <a:avLst/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961888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➕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510528" y="2816352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הוספת דייר בודד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לחץ + הוסף דייר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מלא פרטים ידנית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52160" y="3941064"/>
            <a:ext cx="3017520" cy="1005840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961888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510528" y="3986784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עריכה ומחיקה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שינוי תשלום צפוי, טלפון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 בעלות ושפת הודעה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העלאת דפי חשבון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2286000"/>
          </a:xfrm>
          <a:prstGeom prst="rect">
            <a:avLst/>
          </a:prstGeom>
          <a:solidFill>
            <a:srgbClr val="FAFAF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🏢  בחר בניין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09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▼  -- בחר בניין --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749040" cy="10972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12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גרור קובץ Excel לכאן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 לחץ לבחירת קובץ (.xlsx, .xls)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מנוע ההתאמה החכם 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1572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המערכת מתאימה אוטומטית כל תנועה בנקאית לדייר: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10912" y="1901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התאמה מדויקת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10912" y="2176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השוואה ישירה של שמות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03720" y="1938528"/>
            <a:ext cx="100584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938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100%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10912" y="24963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שם הפוך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10912" y="2770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תמיכה ב"שם משפחה שם פרטי"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03720" y="2532888"/>
            <a:ext cx="100584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532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95%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10896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10912" y="30906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Fuzzy Match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10912" y="3364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מרחק לוונשטיין (Levenshtein)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03720" y="3127248"/>
            <a:ext cx="100584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3127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80%+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70332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10912" y="3685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התאמת אסימונים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10912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קיצורים: "גיא מ" → "גיא מן"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03720" y="3721608"/>
            <a:ext cx="100584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3721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75%+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429768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10912" y="42793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התאמת סכום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10912" y="45537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אימות עם תשלום חודשי צפוי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03720" y="4315968"/>
            <a:ext cx="1005840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70%+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✅ אישור אוטומטי ≥90%  |  ⚠️ בדיקה ידנית &lt;70%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דשבורד תשלומים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93392" cy="123444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13385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67%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" y="16002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74151"/>
                </a:solidFill>
              </a:rPr>
              <a:t>אחוז גבייה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10/15 דיירים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41448" y="1097280"/>
            <a:ext cx="1993392" cy="12344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32888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90088" y="113385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₪2,850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51176" y="16002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74151"/>
                </a:solidFill>
              </a:rPr>
              <a:t>צפוי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51176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סה״כ חודשי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08576" y="1097280"/>
            <a:ext cx="1993392" cy="123444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0016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57216" y="113385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5/15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18304" y="16002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74151"/>
                </a:solidFill>
              </a:rPr>
              <a:t>לא שילמו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18304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ממתינים לתשלום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75704" y="1097280"/>
            <a:ext cx="1993392" cy="123444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67144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24344" y="113385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10/15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85432" y="16002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74151"/>
                </a:solidFill>
              </a:rPr>
              <a:t>שילמו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85432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תשלום אושר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פעולות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23760" y="24871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סטטוס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0" y="24871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שולם ₪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69280" y="24871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חוב ₪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24871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צפוי ₪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97680" y="24871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שפה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2608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דייר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377440" y="24871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דירה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0" y="2871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69480" y="2871216"/>
            <a:ext cx="91440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28895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לא שילם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0" y="2880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6928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₪135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46320" y="2880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₪135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29768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עב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92608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אורה י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37744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182112"/>
            <a:ext cx="8595360" cy="33832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3218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69480" y="3218688"/>
            <a:ext cx="9144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9480" y="32369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שילם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00800" y="3227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₪190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69280" y="32278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46320" y="3227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₪190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29768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עב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926080" y="3227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מעיין ז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37744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22960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269480" y="3566160"/>
            <a:ext cx="9144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9480" y="3584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שילם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00800" y="35753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₪190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669280" y="3575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46320" y="35753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₪190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297680" y="3575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עב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926080" y="3575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מוטי ש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377440" y="3575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3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4320" y="3877056"/>
            <a:ext cx="8595360" cy="33832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29600" y="3913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269480" y="3913632"/>
            <a:ext cx="91440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69480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לא שילם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400800" y="3922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₪0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669280" y="3922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₪190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846320" y="3922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₪190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297680" y="3922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עב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926080" y="3922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גיא מ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2377440" y="3922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4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229600" y="4261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269480" y="4261104"/>
            <a:ext cx="91440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69480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לא שילם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400800" y="4270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₪0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669280" y="4270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₪190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846320" y="4270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₪190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297680" y="4270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עב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926080" y="4270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אלונה ל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377440" y="4270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שליחת תזכורות WhatsApp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47472" cy="34747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פתח את הדשבורד של הבניין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" y="1536192"/>
            <a:ext cx="0" cy="384048"/>
          </a:xfrm>
          <a:prstGeom prst="line">
            <a:avLst/>
          </a:prstGeom>
          <a:noFill/>
          <a:ln w="19050">
            <a:solidFill>
              <a:srgbClr val="128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920240"/>
            <a:ext cx="347472" cy="34747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לחץ על "שלח תזכורות" (הכפתור הירוק)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" y="2267712"/>
            <a:ext cx="0" cy="384048"/>
          </a:xfrm>
          <a:prstGeom prst="line">
            <a:avLst/>
          </a:prstGeom>
          <a:noFill/>
          <a:ln w="19050">
            <a:solidFill>
              <a:srgbClr val="128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651760"/>
            <a:ext cx="347472" cy="34747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651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המערכת יוצרת הודעה אישית לכל דייר שלא שילם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" y="2999232"/>
            <a:ext cx="0" cy="384048"/>
          </a:xfrm>
          <a:prstGeom prst="line">
            <a:avLst/>
          </a:prstGeom>
          <a:noFill/>
          <a:ln w="19050">
            <a:solidFill>
              <a:srgbClr val="128C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383280"/>
            <a:ext cx="347472" cy="34747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383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לחץ "שלח הודעה" ↔ WhatsApp Web נפתח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" y="3730752"/>
            <a:ext cx="0" cy="384048"/>
          </a:xfrm>
          <a:prstGeom prst="line">
            <a:avLst/>
          </a:prstGeom>
          <a:noFill/>
          <a:ln w="19050">
            <a:solidFill>
              <a:srgbClr val="128C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114800"/>
            <a:ext cx="347472" cy="34747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114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אשר שליחה ב-WhatsApp → ההודעה מסומנת כנשלחה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1143000"/>
            <a:ext cx="3749040" cy="3474720"/>
          </a:xfrm>
          <a:prstGeom prst="rect">
            <a:avLst/>
          </a:prstGeom>
          <a:solidFill>
            <a:srgbClr val="E5DDD5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1143000"/>
            <a:ext cx="3749040" cy="50292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1188720"/>
            <a:ext cx="411480" cy="41148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188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גיא מן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CE0CB"/>
                </a:solidFill>
              </a:rPr>
              <a:t>מחובר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66360" y="1755648"/>
            <a:ext cx="3383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1801368"/>
            <a:ext cx="325526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שלום גיא מן,
</a:t>
            </a:r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תזכורת ידידותית לתשלום דמי הבית עבור </a:t>
            </a:r>
            <a:pPr algn="r" indent="0" marL="0">
              <a:buNone/>
            </a:pPr>
            <a:r>
              <a:rPr lang="en-US" sz="900" b="1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משעול תפן 12</a:t>
            </a:r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  <a:p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דירה: </a:t>
            </a:r>
            <a:endParaRPr lang="en-US" sz="9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
</a:t>
            </a:r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סכום לתשלום: </a:t>
            </a:r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₪190
</a:t>
            </a:r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תקופה: </a:t>
            </a:r>
            <a:pPr algn="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מרץ 2026
</a:t>
            </a:r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אנא העביר/י את התשלום בהקדם האפשרי.</a:t>
            </a:r>
            <a:endParaRPr lang="en-US" sz="900" dirty="0"/>
          </a:p>
          <a:p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תודה רבה!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09:45 ✓✓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📝 תבניות ניתנות לעריכה דרך הגדרות → תבניות WhatsApp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  ניהול משתמשים — למנהל בלבד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859536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1338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פעולות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75120" y="11338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סטטוס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577840" y="11338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תפקיד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34640" y="1133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אימייל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1338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שם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0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  🗑️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1536192"/>
            <a:ext cx="8229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5544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פעיל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15000" y="1536192"/>
            <a:ext cx="8229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5544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מנהל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3464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itfrenkeldo@gmail.com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Itay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883664"/>
            <a:ext cx="859536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  🗑️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1938528"/>
            <a:ext cx="8229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פעיל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15000" y="1938528"/>
            <a:ext cx="8229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עובד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34640" y="1956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sarah@company.com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1956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Sarah 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2340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  🗑️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12280" y="2340864"/>
            <a:ext cx="8229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23591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פעיל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15000" y="2340864"/>
            <a:ext cx="82296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3591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צופה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834640" y="2359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david@company.com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2359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David 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688336"/>
            <a:ext cx="859536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  🗑️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12280" y="2743200"/>
            <a:ext cx="82296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27614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ממתין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15000" y="2743200"/>
            <a:ext cx="822960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27614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דייר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834640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rachel@gmail.com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2761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רחל כ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36576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פעולות ניהול: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20040" y="4069080"/>
            <a:ext cx="1993392" cy="89611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1480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✉️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0392" y="411480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הזמן משתמש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שלח קישור למייל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87168" y="4069080"/>
            <a:ext cx="1993392" cy="89611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78608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017520" y="411480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אשר דייר ממתין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הפעל את החשבון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54296" y="4069080"/>
            <a:ext cx="1993392" cy="89611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745736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184648" y="411480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שנה תפקיד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עדכן הרשאות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21424" y="4069080"/>
            <a:ext cx="1993392" cy="896112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912864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🗑️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351776" y="411480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 משתמש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הסר מהמערכת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הגדרות — תבניות WhatsApp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71907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2062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978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תזכורת תשלום  עברית 🇮🇱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שלום {tenant_name},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תזכורת ידידותית לתשלום דמי הבית עבור {building_name}.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דירה: {apartment_number}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סכום: ₪{amount}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587752"/>
            <a:ext cx="777240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060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✏️ ערוך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06240" cy="1719072"/>
          </a:xfrm>
          <a:prstGeom prst="rect">
            <a:avLst/>
          </a:prstGeom>
          <a:solidFill>
            <a:srgbClr val="F8FFF8"/>
          </a:solidFill>
          <a:ln w="635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206240" cy="384048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1978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 Reminder  English 🇺🇸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{tenant_name},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reminder for your building payment for {building_name}.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Apt: {apartment_number}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Amount: ₪{amount}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2587752"/>
            <a:ext cx="777240" cy="219456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6060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✏️ ערוך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206240" cy="171907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7520"/>
            <a:ext cx="42062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723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אישור קבלת תשלום  עברית 🇮🇱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שלום {tenant_name},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תודה! קיבלנו את תשלומך עבור {building_name}.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סכום שהתקבל: ₪{amount}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4462272"/>
            <a:ext cx="77724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4805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✏️ ערוך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4206240" cy="1719072"/>
          </a:xfrm>
          <a:prstGeom prst="rect">
            <a:avLst/>
          </a:prstGeom>
          <a:solidFill>
            <a:srgbClr val="F0FFF0"/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17520"/>
            <a:ext cx="42062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0723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 Received  English 🇺🇸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{tenant_name},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We received your payment for {building_name}.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Amount received: ₪{amount}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4462272"/>
            <a:ext cx="77724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4805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✏️ ערוך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משתנים זמינים: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83450" y="4800600"/>
            <a:ext cx="1276502" cy="256032"/>
          </a:xfrm>
          <a:prstGeom prst="rect">
            <a:avLst/>
          </a:prstGeom>
          <a:solidFill>
            <a:srgbClr val="D1F5F0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83450" y="4818888"/>
            <a:ext cx="12765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28C7E"/>
                </a:solidFill>
              </a:rPr>
              <a:t>{tenant_name}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28970" y="4800600"/>
            <a:ext cx="1444752" cy="256032"/>
          </a:xfrm>
          <a:prstGeom prst="rect">
            <a:avLst/>
          </a:prstGeom>
          <a:solidFill>
            <a:srgbClr val="D1F5F0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28970" y="481888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28C7E"/>
                </a:solidFill>
              </a:rPr>
              <a:t>{building_name}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22115" y="4800600"/>
            <a:ext cx="1697126" cy="256032"/>
          </a:xfrm>
          <a:prstGeom prst="rect">
            <a:avLst/>
          </a:prstGeom>
          <a:solidFill>
            <a:srgbClr val="D1F5F0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22115" y="4818888"/>
            <a:ext cx="1697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28C7E"/>
                </a:solidFill>
              </a:rPr>
              <a:t>{apartment_number}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56509" y="4800600"/>
            <a:ext cx="855878" cy="256032"/>
          </a:xfrm>
          <a:prstGeom prst="rect">
            <a:avLst/>
          </a:prstGeom>
          <a:solidFill>
            <a:srgbClr val="D1F5F0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6509" y="4818888"/>
            <a:ext cx="8558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28C7E"/>
                </a:solidFill>
              </a:rPr>
              <a:t>{amount}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0902" y="4800600"/>
            <a:ext cx="855878" cy="256032"/>
          </a:xfrm>
          <a:prstGeom prst="rect">
            <a:avLst/>
          </a:prstGeom>
          <a:solidFill>
            <a:srgbClr val="D1F5F0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0902" y="4818888"/>
            <a:ext cx="8558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28C7E"/>
                </a:solidFill>
              </a:rPr>
              <a:t>{period}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2298" y="4800600"/>
            <a:ext cx="1528877" cy="256032"/>
          </a:xfrm>
          <a:prstGeom prst="rect">
            <a:avLst/>
          </a:prstGeom>
          <a:solidFill>
            <a:srgbClr val="D1F5F0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2298" y="4818888"/>
            <a:ext cx="15288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28C7E"/>
                </a:solidFill>
              </a:rPr>
              <a:t>{custom_message}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D4ED8">
              <a:alpha val="50000"/>
            </a:srgbClr>
          </a:solidFill>
          <a:ln w="12700">
            <a:solidFill>
              <a:srgbClr val="1D4ED8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זרימת עבודה מלאה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170432" cy="1170432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1417320"/>
            <a:ext cx="201168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צור בניין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" y="25786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הוסף שם, כתובת ותשלום חודשי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55648" y="960120"/>
            <a:ext cx="1170432" cy="1170432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102412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55648" y="16642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90088" y="1417320"/>
            <a:ext cx="201168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18488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ייבא דיירים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72768" y="25786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קובץ Excel עם שם, דירה, טלפון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91256" y="960120"/>
            <a:ext cx="1170432" cy="1170432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1256" y="102412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191256" y="16642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25696" y="1417320"/>
            <a:ext cx="201168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54096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העלה חשבון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08376" y="25786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מהבנק → התאמה אוטומטית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26864" y="960120"/>
            <a:ext cx="1170432" cy="1170432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02412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626864" y="16642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1417320"/>
            <a:ext cx="201168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9704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בדוק דשבורד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43984" y="25786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ראה מי שילם ומי לא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62472" y="960120"/>
            <a:ext cx="1170432" cy="1170432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2472" y="102412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062472" y="16642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96912" y="1417320"/>
            <a:ext cx="201168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שלח תזכורות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79592" y="25786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לכל דייר שלא שילם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498080" y="960120"/>
            <a:ext cx="1170432" cy="1170432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102412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498080" y="16642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60920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עקוב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25786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אחוז גבייה עולה חודש אחר חודש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371600" y="3383280"/>
            <a:ext cx="6400800" cy="594360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3401568"/>
            <a:ext cx="6400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LeadPay — ניהול תשלומים חכם, חוסך זמן, מגדיל גבייה 💰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A5FA"/>
                </a:solidFill>
              </a:rPr>
              <a:t>לשאלות ותמיכה — פנה למנהל המערכת שלך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www.leadpay.app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LeadPay - מדריך למשתמש</dc:title>
  <dc:subject>PptxGenJS Presentation</dc:subject>
  <dc:creator>LeadPay</dc:creator>
  <cp:lastModifiedBy>LeadPay</cp:lastModifiedBy>
  <cp:revision>1</cp:revision>
  <dcterms:created xsi:type="dcterms:W3CDTF">2026-03-06T19:34:45Z</dcterms:created>
  <dcterms:modified xsi:type="dcterms:W3CDTF">2026-03-06T19:34:45Z</dcterms:modified>
</cp:coreProperties>
</file>